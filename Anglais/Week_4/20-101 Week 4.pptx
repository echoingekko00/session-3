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1C401B-1ACD-41B4-8F80-B1EBB2278694}" v="38" dt="2020-09-28T14:48:57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Stewart" userId="S::daniel.stewart@claurendeau.qc.ca::bed26384-7a46-4ee7-97be-a0dba058e308" providerId="AD" clId="Web-{7E1C401B-1ACD-41B4-8F80-B1EBB2278694}"/>
    <pc:docChg chg="modSld">
      <pc:chgData name="Daniel Stewart" userId="S::daniel.stewart@claurendeau.qc.ca::bed26384-7a46-4ee7-97be-a0dba058e308" providerId="AD" clId="Web-{7E1C401B-1ACD-41B4-8F80-B1EBB2278694}" dt="2020-09-28T14:48:57.531" v="36" actId="20577"/>
      <pc:docMkLst>
        <pc:docMk/>
      </pc:docMkLst>
      <pc:sldChg chg="modSp">
        <pc:chgData name="Daniel Stewart" userId="S::daniel.stewart@claurendeau.qc.ca::bed26384-7a46-4ee7-97be-a0dba058e308" providerId="AD" clId="Web-{7E1C401B-1ACD-41B4-8F80-B1EBB2278694}" dt="2020-09-28T14:48:54.171" v="34" actId="20577"/>
        <pc:sldMkLst>
          <pc:docMk/>
          <pc:sldMk cId="2853987922" sldId="264"/>
        </pc:sldMkLst>
        <pc:spChg chg="mod">
          <ac:chgData name="Daniel Stewart" userId="S::daniel.stewart@claurendeau.qc.ca::bed26384-7a46-4ee7-97be-a0dba058e308" providerId="AD" clId="Web-{7E1C401B-1ACD-41B4-8F80-B1EBB2278694}" dt="2020-09-28T14:48:54.171" v="34" actId="20577"/>
          <ac:spMkLst>
            <pc:docMk/>
            <pc:sldMk cId="2853987922" sldId="264"/>
            <ac:spMk id="3" creationId="{F4BD3B52-6538-8447-9E11-E0E280443EF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A7023-7C9F-D64D-86AA-04DC9D6FC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B526C-84F1-1646-9EF7-1408276D0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81423-C9F4-7A47-9373-D53132B46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C5FF-25C8-C64A-8CF2-A96298F8D7ED}" type="datetimeFigureOut">
              <a:rPr lang="en-CA" smtClean="0"/>
              <a:t>2020-09-28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45D8F-F9C0-244B-8F0B-124086F5C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FAFAC-92C6-714C-903E-18AE149D7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8240-1B08-B643-AA6C-DA2A0E740D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3524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B0B55-DAEE-924C-894C-D2A45AC1D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A6DDC-E126-4C4F-9F41-E8D723CF2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22E6C-537F-7E4D-A8A6-F93D104C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C5FF-25C8-C64A-8CF2-A96298F8D7ED}" type="datetimeFigureOut">
              <a:rPr lang="en-CA" smtClean="0"/>
              <a:t>2020-09-28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DBF35-BC11-2945-A7F1-D34F5DF3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611D8-49FC-4241-927F-58D50034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8240-1B08-B643-AA6C-DA2A0E740D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2374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79E3-CF4B-1244-AF7C-05DD826C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0EAE4-6334-4E41-9DE7-8CA53263F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159DF-DC38-4747-9333-C9B725CFE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C5FF-25C8-C64A-8CF2-A96298F8D7ED}" type="datetimeFigureOut">
              <a:rPr lang="en-CA" smtClean="0"/>
              <a:t>2020-09-28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A0ABE-8E8A-DB4E-BF72-65B655E15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B0F1B-D694-104A-AF6B-2516305D4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8240-1B08-B643-AA6C-DA2A0E740D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166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698E-8967-C247-8545-893DE7CF5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5D161-93ED-AA48-9B94-D8EB94941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6BAAC-A923-134B-8E82-9A2DFB4F2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8D3A8-E86A-0944-8A67-09C012CEA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C5FF-25C8-C64A-8CF2-A96298F8D7ED}" type="datetimeFigureOut">
              <a:rPr lang="en-CA" smtClean="0"/>
              <a:t>2020-09-28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BD9A5-8B27-974E-AC4F-18A4934B6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9E2A4-2BEB-B141-AF4A-CCC2D6519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8240-1B08-B643-AA6C-DA2A0E740D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752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2C93-A2F8-0C4F-A2AC-AD886DA38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908CE-1B12-524A-8C05-3255E16C5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920EA-EEE4-274C-8993-822FA5D23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7C2E61-5D17-704D-9CCD-887CFC477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997AA-E401-7142-96F3-725912978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351607-CC05-4347-88EC-FE639B80B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C5FF-25C8-C64A-8CF2-A96298F8D7ED}" type="datetimeFigureOut">
              <a:rPr lang="en-CA" smtClean="0"/>
              <a:t>2020-09-28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BA7D3C-202F-6444-BBBF-25BCD42A3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B0D7F-0665-AF4D-878B-FA605258D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8240-1B08-B643-AA6C-DA2A0E740D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258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CD360-613D-A349-AA43-4958DB41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609372-EC0A-0C4C-98ED-6822FDCB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C5FF-25C8-C64A-8CF2-A96298F8D7ED}" type="datetimeFigureOut">
              <a:rPr lang="en-CA" smtClean="0"/>
              <a:t>2020-09-28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3851F-6823-2849-9C4E-B22A0C281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52650-8A49-D549-82F5-816D0F6FA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8240-1B08-B643-AA6C-DA2A0E740D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1084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C3DC6B-2FED-304D-BACF-2005890D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C5FF-25C8-C64A-8CF2-A96298F8D7ED}" type="datetimeFigureOut">
              <a:rPr lang="en-CA" smtClean="0"/>
              <a:t>2020-09-28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01EC9-D394-E04C-89C0-0FCD7EC0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DD1B8-7A3F-6544-B117-6D98EF2A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8240-1B08-B643-AA6C-DA2A0E740D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8639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3C604-EA43-F447-BD78-695586350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C7246-6C1B-C24F-8DFA-8A4814825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F9A84-F1E6-9A4B-9F2E-C34AE13B6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97DAE-C53B-9144-87C2-13B544A8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C5FF-25C8-C64A-8CF2-A96298F8D7ED}" type="datetimeFigureOut">
              <a:rPr lang="en-CA" smtClean="0"/>
              <a:t>2020-09-28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ED2BB-931E-2D49-A377-43351579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53A71-5199-0B4C-8B58-E69E3E825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8240-1B08-B643-AA6C-DA2A0E740D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4541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6016-C1FF-1849-BAD5-51BBB1D7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9F6C10-B938-DA45-BBCC-74D2AE30B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20168-B880-9245-BC2C-62CE285F6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93EF7-32A0-264B-BB67-600FCC18F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C5FF-25C8-C64A-8CF2-A96298F8D7ED}" type="datetimeFigureOut">
              <a:rPr lang="en-CA" smtClean="0"/>
              <a:t>2020-09-28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94FC7-E796-B945-A80D-C56C89C4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6EC67-8FAA-E54A-96B4-63659992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8240-1B08-B643-AA6C-DA2A0E740D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1473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1A7F1-FC92-B141-8E37-E4E4B30D5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42D43C-EE9C-374F-8ED0-1BFD12F76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A7514-A3F1-9843-BDFA-51834CE8B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C5FF-25C8-C64A-8CF2-A96298F8D7ED}" type="datetimeFigureOut">
              <a:rPr lang="en-CA" smtClean="0"/>
              <a:t>2020-09-28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7CE1D-1D08-EE44-A833-28307084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F33EC-D611-CF4B-A55E-7A21A70D3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8240-1B08-B643-AA6C-DA2A0E740D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9620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992990-0932-B547-8858-627C96E038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354AE-03AB-364F-B5D5-18C1ED7E2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4FFAF-27D2-2148-84C9-34BBC05B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C5FF-25C8-C64A-8CF2-A96298F8D7ED}" type="datetimeFigureOut">
              <a:rPr lang="en-CA" smtClean="0"/>
              <a:t>2020-09-28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83EFF-1DD4-224B-8AFA-E574A49D9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B9C82-1CE7-3643-AD1B-9891E760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8240-1B08-B643-AA6C-DA2A0E740D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590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6000">
              <a:schemeClr val="accent3">
                <a:lumMod val="5000"/>
                <a:lumOff val="95000"/>
              </a:schemeClr>
            </a:gs>
            <a:gs pos="78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AE67F3-3E71-2F4A-AA97-AA1426D3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B46A6-3536-E64D-83B1-F4B619A47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B5B79-1049-3240-9DB4-DB6125290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4C5FF-25C8-C64A-8CF2-A96298F8D7ED}" type="datetimeFigureOut">
              <a:rPr lang="en-CA" smtClean="0"/>
              <a:t>2020-09-28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5D369-B56D-B543-8869-A01D4B7A0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7BE5C-E7F9-3042-8019-3D097416A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A8240-1B08-B643-AA6C-DA2A0E740D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0282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pkfMuXJnWI" TargetMode="External"/><Relationship Id="rId2" Type="http://schemas.openxmlformats.org/officeDocument/2006/relationships/hyperlink" Target="http://www.brainrules.net/exercis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nn.com/2017/11/02/health/why-adults-should-play-too/index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B7579D-C742-4847-A874-C16D8B194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6841" l="2238" r="980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1999" y="4574983"/>
            <a:ext cx="3077715" cy="1728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3484B3-85F9-5F4C-9F82-3FC1360D92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English 101 – Week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4A386A-9C7F-3B48-AC31-6AB25E7CF4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/>
              <a:t>Theme of life balance: sleep, exercise, playtime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B04A9A-EE83-EB4A-8E07-2F80B8262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91" y="4429919"/>
            <a:ext cx="3048000" cy="228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277BF5-5B69-6545-B137-F6FBA99E3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518" y="4805884"/>
            <a:ext cx="3557155" cy="1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23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F573D-5C2E-0342-BF4C-05255559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From last week -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AC454-D3D2-8448-8B67-11B415CD2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Go now to review your answers to the </a:t>
            </a:r>
            <a:r>
              <a:rPr lang="en-CA" err="1"/>
              <a:t>TEDTalk</a:t>
            </a:r>
            <a:r>
              <a:rPr lang="en-CA"/>
              <a:t> video ”Get Hooked on Nature”</a:t>
            </a:r>
          </a:p>
          <a:p>
            <a:pPr marL="0" indent="0">
              <a:buNone/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2525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A7BC-A7C0-6A40-83B7-D51B3113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From your homework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78E16-5D69-2A45-8237-D3A00246A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/>
              <a:t>You prepared a short speech for the people in your programme who are a little down.  The information came from a text you read for homework</a:t>
            </a:r>
          </a:p>
          <a:p>
            <a:endParaRPr lang="en-CA"/>
          </a:p>
          <a:p>
            <a:r>
              <a:rPr lang="en-CA"/>
              <a:t>You will give your speech in small groups of three people.  Each person will present to two others, even though the subject is the same.</a:t>
            </a:r>
          </a:p>
          <a:p>
            <a:endParaRPr lang="en-CA"/>
          </a:p>
          <a:p>
            <a:r>
              <a:rPr lang="en-CA"/>
              <a:t>When your partners are presenting, you must evaluate them.</a:t>
            </a:r>
          </a:p>
        </p:txBody>
      </p:sp>
    </p:spTree>
    <p:extLst>
      <p:ext uri="{BB962C8B-B14F-4D97-AF65-F5344CB8AC3E}">
        <p14:creationId xmlns:p14="http://schemas.microsoft.com/office/powerpoint/2010/main" val="1326835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0B99-7822-C54A-A0B1-59997FAC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From your homework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E6559-06FF-9C4D-BF37-BBA9C4961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/>
              <a:t>Here is the procedure: </a:t>
            </a:r>
          </a:p>
          <a:p>
            <a:pPr marL="0" indent="0">
              <a:buNone/>
            </a:pPr>
            <a:endParaRPr lang="en-CA"/>
          </a:p>
          <a:p>
            <a:pPr marL="514350" indent="-514350">
              <a:buFont typeface="+mj-lt"/>
              <a:buAutoNum type="arabicPeriod"/>
            </a:pPr>
            <a:r>
              <a:rPr lang="en-CA"/>
              <a:t>Download the speaking evaluation grid under “files”, “week 4.”</a:t>
            </a:r>
          </a:p>
          <a:p>
            <a:pPr marL="514350" indent="-514350">
              <a:buFont typeface="+mj-lt"/>
              <a:buAutoNum type="arabicPeriod"/>
            </a:pPr>
            <a:r>
              <a:rPr lang="en-CA"/>
              <a:t>Join your groups, camera and microphones </a:t>
            </a:r>
            <a:r>
              <a:rPr lang="en-CA">
                <a:solidFill>
                  <a:schemeClr val="accent2"/>
                </a:solidFill>
              </a:rPr>
              <a:t>on</a:t>
            </a:r>
          </a:p>
          <a:p>
            <a:pPr marL="514350" indent="-514350">
              <a:buFont typeface="+mj-lt"/>
              <a:buAutoNum type="arabicPeriod"/>
            </a:pPr>
            <a:r>
              <a:rPr lang="en-CA"/>
              <a:t>Present to each other and give your teammates constructive comments based on the criteria in the evaluation grid</a:t>
            </a:r>
          </a:p>
          <a:p>
            <a:pPr marL="514350" indent="-514350">
              <a:buFont typeface="+mj-lt"/>
              <a:buAutoNum type="arabicPeriod"/>
            </a:pPr>
            <a:endParaRPr lang="en-CA"/>
          </a:p>
          <a:p>
            <a:pPr marL="514350" indent="-514350">
              <a:buFont typeface="+mj-lt"/>
              <a:buAutoNum type="arabicPeriod"/>
            </a:pPr>
            <a:r>
              <a:rPr lang="en-CA"/>
              <a:t>After 15 minutes, return to “general”</a:t>
            </a:r>
          </a:p>
          <a:p>
            <a:pPr marL="0" indent="0">
              <a:buNone/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0336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E1F3-BB92-4E4F-8626-A2EBBB7D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Reading test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4C429F-4A77-7F45-8496-6D1F97EAFD21}"/>
              </a:ext>
            </a:extLst>
          </p:cNvPr>
          <p:cNvSpPr txBox="1"/>
          <p:nvPr/>
        </p:nvSpPr>
        <p:spPr>
          <a:xfrm>
            <a:off x="1559857" y="1690688"/>
            <a:ext cx="3514165" cy="4278094"/>
          </a:xfrm>
          <a:prstGeom prst="rect">
            <a:avLst/>
          </a:prstGeom>
          <a:solidFill>
            <a:schemeClr val="accent1">
              <a:lumMod val="60000"/>
              <a:lumOff val="40000"/>
              <a:alpha val="64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3200"/>
              <a:t>Reading text</a:t>
            </a:r>
          </a:p>
          <a:p>
            <a:pPr algn="ctr"/>
            <a:endParaRPr lang="en-CA" sz="3200"/>
          </a:p>
          <a:p>
            <a:pPr algn="ctr"/>
            <a:endParaRPr lang="en-CA" sz="320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CA" sz="2400"/>
              <a:t>Link will be available in the chat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CA" sz="2400"/>
              <a:t>It is in pdf format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 sz="320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CEACA-769E-B94A-A258-B3391880FE17}"/>
              </a:ext>
            </a:extLst>
          </p:cNvPr>
          <p:cNvSpPr txBox="1"/>
          <p:nvPr/>
        </p:nvSpPr>
        <p:spPr>
          <a:xfrm>
            <a:off x="6663016" y="1690688"/>
            <a:ext cx="3514165" cy="4278094"/>
          </a:xfrm>
          <a:prstGeom prst="rect">
            <a:avLst/>
          </a:prstGeom>
          <a:solidFill>
            <a:schemeClr val="accent6">
              <a:lumMod val="60000"/>
              <a:lumOff val="40000"/>
              <a:alpha val="64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3200"/>
              <a:t>Reading questions</a:t>
            </a:r>
          </a:p>
          <a:p>
            <a:pPr algn="ctr"/>
            <a:endParaRPr lang="en-CA" sz="3200"/>
          </a:p>
          <a:p>
            <a:pPr algn="ctr"/>
            <a:endParaRPr lang="en-CA" sz="320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CA" sz="2400"/>
              <a:t>Questions are in “assignments”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 sz="240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 sz="320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9DB0F4B2-F45B-4C41-8A83-D1411D951B2E}"/>
              </a:ext>
            </a:extLst>
          </p:cNvPr>
          <p:cNvSpPr/>
          <p:nvPr/>
        </p:nvSpPr>
        <p:spPr>
          <a:xfrm>
            <a:off x="5217459" y="3370729"/>
            <a:ext cx="1308847" cy="753036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7763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88E08-D9FB-C14A-B8C0-BFD0CDB7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Reading and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911E5-C2D0-CF45-9D5A-9D8656880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The class will be divided into 3 groups.  Each group will watch and listen to a different video.  </a:t>
            </a:r>
          </a:p>
          <a:p>
            <a:pPr marL="0" indent="0">
              <a:buNone/>
            </a:pPr>
            <a:endParaRPr lang="en-CA"/>
          </a:p>
          <a:p>
            <a:r>
              <a:rPr lang="en-CA"/>
              <a:t>You must be sure that you understand the content of your video and be ready to explain it to someone else.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C3DD47-D3B1-364E-BBBD-CE8A31A5B458}"/>
              </a:ext>
            </a:extLst>
          </p:cNvPr>
          <p:cNvSpPr txBox="1"/>
          <p:nvPr/>
        </p:nvSpPr>
        <p:spPr>
          <a:xfrm>
            <a:off x="838200" y="4252774"/>
            <a:ext cx="2259106" cy="2308324"/>
          </a:xfrm>
          <a:prstGeom prst="rect">
            <a:avLst/>
          </a:prstGeom>
          <a:solidFill>
            <a:schemeClr val="accent6">
              <a:lumMod val="60000"/>
              <a:lumOff val="40000"/>
              <a:alpha val="77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Group 1 </a:t>
            </a:r>
          </a:p>
          <a:p>
            <a:pPr algn="ctr"/>
            <a:r>
              <a:rPr lang="en-CA">
                <a:hlinkClick r:id="rId2"/>
              </a:rPr>
              <a:t>link to text</a:t>
            </a:r>
            <a:endParaRPr lang="en-CA"/>
          </a:p>
          <a:p>
            <a:pPr algn="ctr"/>
            <a:endParaRPr lang="en-CA"/>
          </a:p>
          <a:p>
            <a:pPr algn="ctr"/>
            <a:r>
              <a:rPr lang="en-CA"/>
              <a:t>Your text gets a bit technical.  Just try to understand the main ideas.  You don’t need to explain the  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E76DD-2FC3-A04F-88E2-88BA2F1540AA}"/>
              </a:ext>
            </a:extLst>
          </p:cNvPr>
          <p:cNvSpPr txBox="1"/>
          <p:nvPr/>
        </p:nvSpPr>
        <p:spPr>
          <a:xfrm>
            <a:off x="4388223" y="4252774"/>
            <a:ext cx="2259106" cy="2308324"/>
          </a:xfrm>
          <a:prstGeom prst="rect">
            <a:avLst/>
          </a:prstGeom>
          <a:solidFill>
            <a:schemeClr val="accent4">
              <a:lumMod val="60000"/>
              <a:lumOff val="40000"/>
              <a:alpha val="77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Group 2 </a:t>
            </a:r>
          </a:p>
          <a:p>
            <a:pPr algn="ctr"/>
            <a:r>
              <a:rPr lang="en-CA">
                <a:hlinkClick r:id="rId3"/>
              </a:rPr>
              <a:t>link to text</a:t>
            </a:r>
            <a:endParaRPr lang="en-CA"/>
          </a:p>
          <a:p>
            <a:pPr algn="ctr"/>
            <a:endParaRPr lang="en-CA"/>
          </a:p>
          <a:p>
            <a:pPr algn="ctr"/>
            <a:r>
              <a:rPr lang="en-CA"/>
              <a:t>Your text contains a lot of details.  Try to understand the main ideas for a summary</a:t>
            </a:r>
          </a:p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206988-9E6C-9840-9692-7FCFC7680848}"/>
              </a:ext>
            </a:extLst>
          </p:cNvPr>
          <p:cNvSpPr txBox="1"/>
          <p:nvPr/>
        </p:nvSpPr>
        <p:spPr>
          <a:xfrm>
            <a:off x="7938246" y="4252774"/>
            <a:ext cx="2259106" cy="2308324"/>
          </a:xfrm>
          <a:prstGeom prst="rect">
            <a:avLst/>
          </a:prstGeom>
          <a:solidFill>
            <a:schemeClr val="accent1">
              <a:lumMod val="60000"/>
              <a:lumOff val="40000"/>
              <a:alpha val="77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Group 3 </a:t>
            </a:r>
          </a:p>
          <a:p>
            <a:pPr algn="ctr"/>
            <a:r>
              <a:rPr lang="en-CA">
                <a:hlinkClick r:id="rId4"/>
              </a:rPr>
              <a:t>link to text</a:t>
            </a:r>
            <a:endParaRPr lang="en-CA"/>
          </a:p>
          <a:p>
            <a:pPr algn="ctr"/>
            <a:endParaRPr lang="en-CA"/>
          </a:p>
          <a:p>
            <a:pPr algn="ctr"/>
            <a:r>
              <a:rPr lang="en-CA"/>
              <a:t>Just watch the video on this page, no need to read the text as well</a:t>
            </a:r>
          </a:p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7471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847ED-C5C6-4340-BA9E-82578C6F3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Listening text – group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F51E4-2BE0-B842-88D3-B3D24D624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Meet with the other people who watched the same video as you.  Compare your ideas to ensure you have a clear understanding of the contents of the video.</a:t>
            </a:r>
          </a:p>
          <a:p>
            <a:endParaRPr lang="en-CA"/>
          </a:p>
          <a:p>
            <a:r>
              <a:rPr lang="en-CA"/>
              <a:t>If you have time to create a group summary, great.</a:t>
            </a:r>
          </a:p>
        </p:txBody>
      </p:sp>
    </p:spTree>
    <p:extLst>
      <p:ext uri="{BB962C8B-B14F-4D97-AF65-F5344CB8AC3E}">
        <p14:creationId xmlns:p14="http://schemas.microsoft.com/office/powerpoint/2010/main" val="4253707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6CFCF-8440-0844-A0AF-657784D1A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Listening texts -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F2209-7148-8642-991A-0D9AD2843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/>
              <a:t>Now, you will share what you learned with other students who didn’t watch your video: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865B8-41DA-7E45-90A9-ED344E3D017E}"/>
              </a:ext>
            </a:extLst>
          </p:cNvPr>
          <p:cNvSpPr txBox="1"/>
          <p:nvPr/>
        </p:nvSpPr>
        <p:spPr>
          <a:xfrm>
            <a:off x="1250575" y="3469318"/>
            <a:ext cx="1815353" cy="230832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Group 1 student</a:t>
            </a:r>
          </a:p>
          <a:p>
            <a:r>
              <a:rPr lang="en-CA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Group 1 student</a:t>
            </a:r>
          </a:p>
          <a:p>
            <a:endParaRPr lang="en-CA" b="1"/>
          </a:p>
          <a:p>
            <a:r>
              <a:rPr lang="en-CA" b="1">
                <a:solidFill>
                  <a:schemeClr val="accent4">
                    <a:lumMod val="60000"/>
                    <a:lumOff val="40000"/>
                  </a:schemeClr>
                </a:solidFill>
              </a:rPr>
              <a:t>Group 2 student</a:t>
            </a:r>
          </a:p>
          <a:p>
            <a:r>
              <a:rPr lang="en-CA" b="1">
                <a:solidFill>
                  <a:schemeClr val="accent4">
                    <a:lumMod val="60000"/>
                    <a:lumOff val="40000"/>
                  </a:schemeClr>
                </a:solidFill>
              </a:rPr>
              <a:t>Group 2 student</a:t>
            </a:r>
          </a:p>
          <a:p>
            <a:endParaRPr lang="en-CA" b="1"/>
          </a:p>
          <a:p>
            <a:r>
              <a:rPr lang="en-CA" b="1">
                <a:solidFill>
                  <a:schemeClr val="accent1">
                    <a:lumMod val="60000"/>
                    <a:lumOff val="40000"/>
                  </a:schemeClr>
                </a:solidFill>
              </a:rPr>
              <a:t>Group 3 student</a:t>
            </a:r>
          </a:p>
          <a:p>
            <a:r>
              <a:rPr lang="en-CA" b="1">
                <a:solidFill>
                  <a:schemeClr val="accent1">
                    <a:lumMod val="60000"/>
                    <a:lumOff val="40000"/>
                  </a:schemeClr>
                </a:solidFill>
              </a:rPr>
              <a:t>Group 3 student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0F72A-58A6-F544-B1B7-22D0A4FBD38D}"/>
              </a:ext>
            </a:extLst>
          </p:cNvPr>
          <p:cNvSpPr txBox="1"/>
          <p:nvPr/>
        </p:nvSpPr>
        <p:spPr>
          <a:xfrm>
            <a:off x="3680010" y="3469318"/>
            <a:ext cx="1815353" cy="230832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Group 1 student</a:t>
            </a:r>
          </a:p>
          <a:p>
            <a:r>
              <a:rPr lang="en-CA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Group 1 student</a:t>
            </a:r>
          </a:p>
          <a:p>
            <a:endParaRPr lang="en-CA" b="1"/>
          </a:p>
          <a:p>
            <a:r>
              <a:rPr lang="en-CA" b="1">
                <a:solidFill>
                  <a:schemeClr val="accent4">
                    <a:lumMod val="60000"/>
                    <a:lumOff val="40000"/>
                  </a:schemeClr>
                </a:solidFill>
              </a:rPr>
              <a:t>Group 2 student</a:t>
            </a:r>
          </a:p>
          <a:p>
            <a:r>
              <a:rPr lang="en-CA" b="1">
                <a:solidFill>
                  <a:schemeClr val="accent4">
                    <a:lumMod val="60000"/>
                    <a:lumOff val="40000"/>
                  </a:schemeClr>
                </a:solidFill>
              </a:rPr>
              <a:t>Group 2 student</a:t>
            </a:r>
          </a:p>
          <a:p>
            <a:endParaRPr lang="en-CA" b="1"/>
          </a:p>
          <a:p>
            <a:r>
              <a:rPr lang="en-CA" b="1">
                <a:solidFill>
                  <a:schemeClr val="accent1">
                    <a:lumMod val="60000"/>
                    <a:lumOff val="40000"/>
                  </a:schemeClr>
                </a:solidFill>
              </a:rPr>
              <a:t>Group 3 student</a:t>
            </a:r>
          </a:p>
          <a:p>
            <a:r>
              <a:rPr lang="en-CA" b="1">
                <a:solidFill>
                  <a:schemeClr val="accent1">
                    <a:lumMod val="60000"/>
                    <a:lumOff val="40000"/>
                  </a:schemeClr>
                </a:solidFill>
              </a:rPr>
              <a:t>Group 3 student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DDE101-CF3D-AB46-B498-7D8672D44C1E}"/>
              </a:ext>
            </a:extLst>
          </p:cNvPr>
          <p:cNvSpPr txBox="1"/>
          <p:nvPr/>
        </p:nvSpPr>
        <p:spPr>
          <a:xfrm>
            <a:off x="6109445" y="3469318"/>
            <a:ext cx="1815353" cy="230832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Group 1 student</a:t>
            </a:r>
          </a:p>
          <a:p>
            <a:r>
              <a:rPr lang="en-CA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Group 1 student</a:t>
            </a:r>
          </a:p>
          <a:p>
            <a:endParaRPr lang="en-CA" b="1"/>
          </a:p>
          <a:p>
            <a:r>
              <a:rPr lang="en-CA" b="1">
                <a:solidFill>
                  <a:schemeClr val="accent4">
                    <a:lumMod val="60000"/>
                    <a:lumOff val="40000"/>
                  </a:schemeClr>
                </a:solidFill>
              </a:rPr>
              <a:t>Group 2 student</a:t>
            </a:r>
          </a:p>
          <a:p>
            <a:r>
              <a:rPr lang="en-CA" b="1">
                <a:solidFill>
                  <a:schemeClr val="accent4">
                    <a:lumMod val="60000"/>
                    <a:lumOff val="40000"/>
                  </a:schemeClr>
                </a:solidFill>
              </a:rPr>
              <a:t>Group 2 student</a:t>
            </a:r>
          </a:p>
          <a:p>
            <a:endParaRPr lang="en-CA" b="1"/>
          </a:p>
          <a:p>
            <a:r>
              <a:rPr lang="en-CA" b="1">
                <a:solidFill>
                  <a:schemeClr val="accent1">
                    <a:lumMod val="60000"/>
                    <a:lumOff val="40000"/>
                  </a:schemeClr>
                </a:solidFill>
              </a:rPr>
              <a:t>Group 3 student</a:t>
            </a:r>
          </a:p>
          <a:p>
            <a:r>
              <a:rPr lang="en-CA" b="1">
                <a:solidFill>
                  <a:schemeClr val="accent1">
                    <a:lumMod val="60000"/>
                    <a:lumOff val="40000"/>
                  </a:schemeClr>
                </a:solidFill>
              </a:rPr>
              <a:t>Group 3 student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C13276-8833-E240-BBB4-02423FCC132F}"/>
              </a:ext>
            </a:extLst>
          </p:cNvPr>
          <p:cNvSpPr txBox="1"/>
          <p:nvPr/>
        </p:nvSpPr>
        <p:spPr>
          <a:xfrm>
            <a:off x="8538880" y="3469318"/>
            <a:ext cx="1815353" cy="230832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Group 1 student</a:t>
            </a:r>
          </a:p>
          <a:p>
            <a:r>
              <a:rPr lang="en-CA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Group 1 student</a:t>
            </a:r>
          </a:p>
          <a:p>
            <a:endParaRPr lang="en-CA" b="1"/>
          </a:p>
          <a:p>
            <a:r>
              <a:rPr lang="en-CA" b="1">
                <a:solidFill>
                  <a:schemeClr val="accent4">
                    <a:lumMod val="60000"/>
                    <a:lumOff val="40000"/>
                  </a:schemeClr>
                </a:solidFill>
              </a:rPr>
              <a:t>Group 2 student</a:t>
            </a:r>
          </a:p>
          <a:p>
            <a:r>
              <a:rPr lang="en-CA" b="1">
                <a:solidFill>
                  <a:schemeClr val="accent4">
                    <a:lumMod val="60000"/>
                    <a:lumOff val="40000"/>
                  </a:schemeClr>
                </a:solidFill>
              </a:rPr>
              <a:t>Group 2 student</a:t>
            </a:r>
          </a:p>
          <a:p>
            <a:endParaRPr lang="en-CA" b="1"/>
          </a:p>
          <a:p>
            <a:r>
              <a:rPr lang="en-CA" b="1">
                <a:solidFill>
                  <a:schemeClr val="accent1">
                    <a:lumMod val="60000"/>
                    <a:lumOff val="40000"/>
                  </a:schemeClr>
                </a:solidFill>
              </a:rPr>
              <a:t>Group 3 student</a:t>
            </a:r>
          </a:p>
          <a:p>
            <a:r>
              <a:rPr lang="en-CA" b="1">
                <a:solidFill>
                  <a:schemeClr val="accent1">
                    <a:lumMod val="60000"/>
                    <a:lumOff val="40000"/>
                  </a:schemeClr>
                </a:solidFill>
              </a:rPr>
              <a:t>Group 3 student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DED34-FE38-F842-A342-0C5D8864F336}"/>
              </a:ext>
            </a:extLst>
          </p:cNvPr>
          <p:cNvSpPr txBox="1"/>
          <p:nvPr/>
        </p:nvSpPr>
        <p:spPr>
          <a:xfrm>
            <a:off x="1854573" y="2885290"/>
            <a:ext cx="6073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867387-F94C-7741-8A48-7C6B50DAE9AC}"/>
              </a:ext>
            </a:extLst>
          </p:cNvPr>
          <p:cNvSpPr txBox="1"/>
          <p:nvPr/>
        </p:nvSpPr>
        <p:spPr>
          <a:xfrm>
            <a:off x="4282330" y="2884543"/>
            <a:ext cx="6073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7B926D-EFA1-AB4C-B612-552FA9DE1245}"/>
              </a:ext>
            </a:extLst>
          </p:cNvPr>
          <p:cNvSpPr txBox="1"/>
          <p:nvPr/>
        </p:nvSpPr>
        <p:spPr>
          <a:xfrm>
            <a:off x="6712604" y="2884543"/>
            <a:ext cx="6073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/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2AFBBF-3CAA-D742-BB41-9269A3742B89}"/>
              </a:ext>
            </a:extLst>
          </p:cNvPr>
          <p:cNvSpPr txBox="1"/>
          <p:nvPr/>
        </p:nvSpPr>
        <p:spPr>
          <a:xfrm>
            <a:off x="9142878" y="2884542"/>
            <a:ext cx="6073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/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67253B-079D-5744-928F-9A6B048B08C8}"/>
              </a:ext>
            </a:extLst>
          </p:cNvPr>
          <p:cNvSpPr txBox="1"/>
          <p:nvPr/>
        </p:nvSpPr>
        <p:spPr>
          <a:xfrm>
            <a:off x="10968315" y="4241444"/>
            <a:ext cx="797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069910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99403-ABEC-FB4B-A9E3-226889125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D3B52-6538-8447-9E11-E0E280443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CA"/>
              <a:t>Review what you learned about life balance. </a:t>
            </a:r>
          </a:p>
          <a:p>
            <a:r>
              <a:rPr lang="en-CA"/>
              <a:t>Create 10 questions that you could ask a friend, a relative, a colleague, or a stranger to find out about his or her life balance. </a:t>
            </a:r>
          </a:p>
          <a:p>
            <a:r>
              <a:rPr lang="en-CA"/>
              <a:t>Revise your questions for grammatical accuracy and ensure that they reflect the ideas learned in this theme.</a:t>
            </a:r>
          </a:p>
          <a:p>
            <a:endParaRPr lang="en-CA">
              <a:cs typeface="Calibri" panose="020F0502020204030204"/>
            </a:endParaRPr>
          </a:p>
          <a:p>
            <a:r>
              <a:rPr lang="en-CA">
                <a:cs typeface="Calibri" panose="020F0502020204030204"/>
              </a:rPr>
              <a:t>Next week: Listening test (it counts!)</a:t>
            </a:r>
          </a:p>
        </p:txBody>
      </p:sp>
    </p:spTree>
    <p:extLst>
      <p:ext uri="{BB962C8B-B14F-4D97-AF65-F5344CB8AC3E}">
        <p14:creationId xmlns:p14="http://schemas.microsoft.com/office/powerpoint/2010/main" val="2853987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D6F6CAAF9C6944B5C9751CA7007C9D" ma:contentTypeVersion="8" ma:contentTypeDescription="Crée un document." ma:contentTypeScope="" ma:versionID="bc33b16a1dec45d22a7b1dbf155d3219">
  <xsd:schema xmlns:xsd="http://www.w3.org/2001/XMLSchema" xmlns:xs="http://www.w3.org/2001/XMLSchema" xmlns:p="http://schemas.microsoft.com/office/2006/metadata/properties" xmlns:ns2="46578e2c-41c0-4923-89c6-761e39a1a296" targetNamespace="http://schemas.microsoft.com/office/2006/metadata/properties" ma:root="true" ma:fieldsID="9d93f5c3bb85348cf20d3c0d7657c435" ns2:_="">
    <xsd:import namespace="46578e2c-41c0-4923-89c6-761e39a1a2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578e2c-41c0-4923-89c6-761e39a1a2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9FC7FF-DAF9-4657-8543-7AFFAC5C5B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F67F84-25EE-4496-BD5E-A1ADA853CBE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88A4171-AF0B-41B0-AAF5-6FB88479CE4D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English 101 – Week 4</vt:lpstr>
      <vt:lpstr>From last week - listening</vt:lpstr>
      <vt:lpstr>From your homework (1)</vt:lpstr>
      <vt:lpstr>From your homework (2)</vt:lpstr>
      <vt:lpstr>Reading test</vt:lpstr>
      <vt:lpstr>Reading and listening</vt:lpstr>
      <vt:lpstr>Listening text – group summaries</vt:lpstr>
      <vt:lpstr>Listening texts - sharing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101 – Week 4</dc:title>
  <dc:creator>Daniel Stewart</dc:creator>
  <cp:revision>1</cp:revision>
  <dcterms:created xsi:type="dcterms:W3CDTF">2020-09-22T21:59:07Z</dcterms:created>
  <dcterms:modified xsi:type="dcterms:W3CDTF">2020-09-28T14:49:14Z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0x01010016D6F6CAAF9C6944B5C9751CA7007C9D</vt:lpwstr>
  </property>
</Properties>
</file>