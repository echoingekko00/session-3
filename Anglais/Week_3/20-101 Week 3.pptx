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5"/>
    <p:restoredTop sz="95064"/>
  </p:normalViewPr>
  <p:slideViewPr>
    <p:cSldViewPr snapToGrid="0" snapToObjects="1">
      <p:cViewPr varScale="1">
        <p:scale>
          <a:sx n="72" d="100"/>
          <a:sy n="72" d="100"/>
        </p:scale>
        <p:origin x="20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CB1C-23F0-8D4E-81FC-36A6C09E2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981DC-0513-5242-A861-3C94A1FB0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4CFD5-D0E8-7545-B03E-4F8D88558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4B06-C6A2-114D-9D59-1FACCC7A848D}" type="datetimeFigureOut">
              <a:rPr lang="en-CA" smtClean="0"/>
              <a:t>2020-09-17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F95F6-A15D-BD47-A94C-B76280B6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F2101-3D4C-794E-BABB-DF73151A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566B-33CD-5248-824D-7AF90FB881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159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E8490-8E03-BD4B-A405-D6968E770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8871A-E51B-2F4B-9E7E-7864DF0F5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40EA0-12D3-9E4F-9EA9-966CB628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4B06-C6A2-114D-9D59-1FACCC7A848D}" type="datetimeFigureOut">
              <a:rPr lang="en-CA" smtClean="0"/>
              <a:t>2020-09-17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4996E-B157-4C42-8A8F-EDF1B9A5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550EB-5ACA-F64D-98A7-C3ECEF246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566B-33CD-5248-824D-7AF90FB881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176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4A7CC-8DA1-1047-859C-C3C616A89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CAF57-68A7-844B-9214-D1D3FD2DE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050D6-8AC0-5F41-BFC3-F5DB46150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4B06-C6A2-114D-9D59-1FACCC7A848D}" type="datetimeFigureOut">
              <a:rPr lang="en-CA" smtClean="0"/>
              <a:t>2020-09-17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10FD5-8D2C-AA4E-8751-4D0A4EEE6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00F6-3913-8740-8678-971A4F61D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566B-33CD-5248-824D-7AF90FB881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6198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A2595-CFBA-B040-B957-374FB13BC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5691C-95AA-B445-AA19-53E8E6683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38870-DF96-E74F-82C6-0F423B3C5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4E7CF-8E7A-254F-9204-66719E93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4B06-C6A2-114D-9D59-1FACCC7A848D}" type="datetimeFigureOut">
              <a:rPr lang="en-CA" smtClean="0"/>
              <a:t>2020-09-17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E0D39-44A9-7C46-99E2-E5596FD11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F8035-42C1-5148-B4F3-DF2BE6A92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566B-33CD-5248-824D-7AF90FB881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7315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B329-372A-4C41-8BE9-7E406AD6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E9D17-4CE0-F74A-8CBE-8A4F54EAF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5FDF6-6531-4449-928D-476CD97F6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3030F-0B1E-D14F-AD53-A852AAB27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D9598-6168-7A45-A3BB-148FA46D5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1FD121-FB81-1A4E-A644-55BE1092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4B06-C6A2-114D-9D59-1FACCC7A848D}" type="datetimeFigureOut">
              <a:rPr lang="en-CA" smtClean="0"/>
              <a:t>2020-09-17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F6AC02-7A32-BE4F-8BE0-4DF544CC2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9422C5-C032-294D-8E59-CB5EAC92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566B-33CD-5248-824D-7AF90FB881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952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43091-0FB9-A14F-BA1B-22801102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67CCC-20D3-1A45-BA22-7F41B6D4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4B06-C6A2-114D-9D59-1FACCC7A848D}" type="datetimeFigureOut">
              <a:rPr lang="en-CA" smtClean="0"/>
              <a:t>2020-09-17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76850-D265-774A-9DF5-8C4B9C597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EACE84-2E62-7942-AAD6-73E66012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566B-33CD-5248-824D-7AF90FB881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995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1FA78-AD04-3745-85D6-5F0D09E9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4B06-C6A2-114D-9D59-1FACCC7A848D}" type="datetimeFigureOut">
              <a:rPr lang="en-CA" smtClean="0"/>
              <a:t>2020-09-17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1E38FE-6F07-7A45-A1B4-B6CD85436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5B72B-5F40-4F44-A610-5590BA669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566B-33CD-5248-824D-7AF90FB881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741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F390-0E2B-E441-8407-BA1B643C0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8C6B7-9B9F-0F47-AB84-2635EBA50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EB4C7-10CC-6241-8D67-083AC11E7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AA9E2-6DD1-E540-B106-DA0B0CA72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4B06-C6A2-114D-9D59-1FACCC7A848D}" type="datetimeFigureOut">
              <a:rPr lang="en-CA" smtClean="0"/>
              <a:t>2020-09-17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57215-3087-574D-BF24-0CD38DCE8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2CB8F-9D04-6640-AC1B-064313FE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566B-33CD-5248-824D-7AF90FB881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466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EF2F4-8CCA-864C-8B16-FD6F6F441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B1C60C-89A3-244A-91B2-50B3176EE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9D148-E681-0641-9C53-65EBBDFB7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9D13D-4492-4B4C-80CD-F6F16820B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4B06-C6A2-114D-9D59-1FACCC7A848D}" type="datetimeFigureOut">
              <a:rPr lang="en-CA" smtClean="0"/>
              <a:t>2020-09-17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BA79F-A514-054A-B275-0C26257A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8F37E-E5D3-9249-A5C1-E999BD17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566B-33CD-5248-824D-7AF90FB881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715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3B7D-360E-4A4B-8DDE-2C7262DB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B4026-CBC3-CF46-A17A-C35B48F99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1FCCE-70C7-234A-B402-50C537EDD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4B06-C6A2-114D-9D59-1FACCC7A848D}" type="datetimeFigureOut">
              <a:rPr lang="en-CA" smtClean="0"/>
              <a:t>2020-09-17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BECE9-8A4B-7140-8BBD-E254862C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579AA-090F-BB42-B23D-62DB25E76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566B-33CD-5248-824D-7AF90FB881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6465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4CC3A4-2F27-C840-8A8B-2D30AA470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3FAB3-CFCB-3A42-B77B-7C43ACA45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CE289-2566-1C4B-AD30-96B7F094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4B06-C6A2-114D-9D59-1FACCC7A848D}" type="datetimeFigureOut">
              <a:rPr lang="en-CA" smtClean="0"/>
              <a:t>2020-09-17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C851D-DBFB-714F-A54F-D5B48D6E0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B154E-5E42-D54D-A2AD-87925C36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1566B-33CD-5248-824D-7AF90FB881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937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51F52E-51E7-4E43-BA32-12C82BF48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0B0A3-C56D-D84B-B412-FDA3A8FE5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4C145-96C5-AD40-84CA-93525C760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C4B06-C6A2-114D-9D59-1FACCC7A848D}" type="datetimeFigureOut">
              <a:rPr lang="en-CA" smtClean="0"/>
              <a:t>2020-09-17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61EB3-0625-CB47-A708-950BD52D5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3CFD0-25E5-A142-83D3-500DB00F1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1566B-33CD-5248-824D-7AF90FB881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862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eb2.uvcs.uvic.ca/courses/elc/studyzone/330/grammar/pasted.htm" TargetMode="External"/><Relationship Id="rId2" Type="http://schemas.openxmlformats.org/officeDocument/2006/relationships/hyperlink" Target="https://web2.uvcs.uvic.ca/courses/elc/studyzone/330/grammar/pres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nglishpage.com/irregularverbs/irregularverbs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uffingtonpost.ca/entry/this-is-your-brain-on-nature_n_55bf98fee4b0b23e3ce35d9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32D38-C919-7140-8361-8BFCD040CF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English 101</a:t>
            </a:r>
            <a:br>
              <a:rPr lang="en-CA" dirty="0"/>
            </a:br>
            <a:r>
              <a:rPr lang="en-CA" dirty="0"/>
              <a:t> Week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22A00-5B28-FD4C-AFB5-592610E9CA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Theme: Life balance, the importance of nature</a:t>
            </a:r>
          </a:p>
        </p:txBody>
      </p:sp>
    </p:spTree>
    <p:extLst>
      <p:ext uri="{BB962C8B-B14F-4D97-AF65-F5344CB8AC3E}">
        <p14:creationId xmlns:p14="http://schemas.microsoft.com/office/powerpoint/2010/main" val="2674705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5C4F-F29C-174D-8CB4-8C8666E7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 finish off from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D7B1D-A0D2-6247-A226-8F4C7B448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1218" cy="4351338"/>
          </a:xfrm>
          <a:solidFill>
            <a:schemeClr val="bg1">
              <a:lumMod val="50000"/>
              <a:alpha val="5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CA" dirty="0"/>
              <a:t>Listening on Daydreaming</a:t>
            </a:r>
          </a:p>
          <a:p>
            <a:r>
              <a:rPr lang="en-CA" dirty="0"/>
              <a:t>I read your answers from the listening on daydreaming.  </a:t>
            </a:r>
          </a:p>
          <a:p>
            <a:r>
              <a:rPr lang="en-CA" dirty="0"/>
              <a:t>Please go now to see my comments and re-read your answers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18E51A-6D4C-1E4E-A1A6-EE5FA824A070}"/>
              </a:ext>
            </a:extLst>
          </p:cNvPr>
          <p:cNvSpPr txBox="1">
            <a:spLocks/>
          </p:cNvSpPr>
          <p:nvPr/>
        </p:nvSpPr>
        <p:spPr>
          <a:xfrm>
            <a:off x="5888183" y="1825625"/>
            <a:ext cx="4835236" cy="4351338"/>
          </a:xfrm>
          <a:prstGeom prst="rect">
            <a:avLst/>
          </a:prstGeom>
          <a:solidFill>
            <a:schemeClr val="bg1">
              <a:lumMod val="50000"/>
              <a:alpha val="5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dirty="0"/>
              <a:t>Writing - Dialogue</a:t>
            </a:r>
          </a:p>
          <a:p>
            <a:r>
              <a:rPr lang="en-CA" dirty="0"/>
              <a:t>I read your texts and I commented on them. </a:t>
            </a:r>
          </a:p>
          <a:p>
            <a:r>
              <a:rPr lang="en-CA" dirty="0"/>
              <a:t>Please go to you portfolios now to listen to my recorded comments</a:t>
            </a:r>
          </a:p>
        </p:txBody>
      </p:sp>
    </p:spTree>
    <p:extLst>
      <p:ext uri="{BB962C8B-B14F-4D97-AF65-F5344CB8AC3E}">
        <p14:creationId xmlns:p14="http://schemas.microsoft.com/office/powerpoint/2010/main" val="966106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F9FEF-F973-9842-A922-8D4376AE6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 finish off from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4BEC2-AD1A-D148-9601-CB5F6A52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Go to your portfolios.  Start a new page.  Reflect on what you learned from the daydreaming part of this theme.</a:t>
            </a:r>
          </a:p>
          <a:p>
            <a:pPr lvl="1"/>
            <a:r>
              <a:rPr lang="en-CA" dirty="0"/>
              <a:t>New ideas?</a:t>
            </a:r>
          </a:p>
          <a:p>
            <a:pPr lvl="1"/>
            <a:r>
              <a:rPr lang="en-CA" dirty="0"/>
              <a:t>New vocabulary or expressions?</a:t>
            </a:r>
          </a:p>
          <a:p>
            <a:pPr lvl="1"/>
            <a:r>
              <a:rPr lang="en-CA" dirty="0"/>
              <a:t>Anything about the English language?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84444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1E92DD-DDB4-2045-8BCA-EB9496E62748}"/>
              </a:ext>
            </a:extLst>
          </p:cNvPr>
          <p:cNvSpPr/>
          <p:nvPr/>
        </p:nvSpPr>
        <p:spPr>
          <a:xfrm>
            <a:off x="784413" y="2259106"/>
            <a:ext cx="3411070" cy="4491320"/>
          </a:xfrm>
          <a:prstGeom prst="rect">
            <a:avLst/>
          </a:prstGeom>
          <a:solidFill>
            <a:schemeClr val="bg1">
              <a:lumMod val="75000"/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83C40-7FBB-A541-9411-DD86EA09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New for this week: 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C633D-2BD1-0242-A4C9-CD657ED07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Here is my homework: 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57B9F-8A22-8D46-83F3-F04769CD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90" y="2609474"/>
            <a:ext cx="2870947" cy="38279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FF1588-7A49-7C4E-863F-33AC696B5352}"/>
              </a:ext>
            </a:extLst>
          </p:cNvPr>
          <p:cNvSpPr txBox="1"/>
          <p:nvPr/>
        </p:nvSpPr>
        <p:spPr>
          <a:xfrm>
            <a:off x="5074024" y="2259106"/>
            <a:ext cx="6131858" cy="4401205"/>
          </a:xfrm>
          <a:prstGeom prst="rect">
            <a:avLst/>
          </a:prstGeom>
          <a:solidFill>
            <a:schemeClr val="bg1">
              <a:lumMod val="75000"/>
              <a:alpha val="69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2800" dirty="0"/>
              <a:t>This photo is significant to me because it represents the amazing abilities of beavers to change the environment.  This is a fresh cut from animals that work all the time.  This family of beavers created a new pond, where they now live.  </a:t>
            </a:r>
          </a:p>
          <a:p>
            <a:r>
              <a:rPr lang="en-CA" sz="2800" dirty="0"/>
              <a:t>The photo has soft textures and includes the colours of nature, from blue, to brown, to green.</a:t>
            </a:r>
          </a:p>
        </p:txBody>
      </p:sp>
    </p:spTree>
    <p:extLst>
      <p:ext uri="{BB962C8B-B14F-4D97-AF65-F5344CB8AC3E}">
        <p14:creationId xmlns:p14="http://schemas.microsoft.com/office/powerpoint/2010/main" val="780548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1E92DD-DDB4-2045-8BCA-EB9496E62748}"/>
              </a:ext>
            </a:extLst>
          </p:cNvPr>
          <p:cNvSpPr/>
          <p:nvPr/>
        </p:nvSpPr>
        <p:spPr>
          <a:xfrm>
            <a:off x="784413" y="2259106"/>
            <a:ext cx="3411070" cy="4491320"/>
          </a:xfrm>
          <a:prstGeom prst="rect">
            <a:avLst/>
          </a:prstGeom>
          <a:solidFill>
            <a:schemeClr val="bg1">
              <a:lumMod val="75000"/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83C40-7FBB-A541-9411-DD86EA09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New for this week: 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C633D-2BD1-0242-A4C9-CD657ED07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Here is my homework: 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57B9F-8A22-8D46-83F3-F04769CD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90" y="2609474"/>
            <a:ext cx="2870947" cy="38279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FF1588-7A49-7C4E-863F-33AC696B5352}"/>
              </a:ext>
            </a:extLst>
          </p:cNvPr>
          <p:cNvSpPr txBox="1"/>
          <p:nvPr/>
        </p:nvSpPr>
        <p:spPr>
          <a:xfrm>
            <a:off x="5074024" y="2259106"/>
            <a:ext cx="6131858" cy="4401205"/>
          </a:xfrm>
          <a:prstGeom prst="rect">
            <a:avLst/>
          </a:prstGeom>
          <a:solidFill>
            <a:schemeClr val="bg1">
              <a:lumMod val="75000"/>
              <a:alpha val="69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2800" dirty="0"/>
              <a:t>This photo </a:t>
            </a:r>
            <a:r>
              <a:rPr lang="en-CA" sz="2800" dirty="0">
                <a:solidFill>
                  <a:srgbClr val="FF0000"/>
                </a:solidFill>
              </a:rPr>
              <a:t>is</a:t>
            </a:r>
            <a:r>
              <a:rPr lang="en-CA" sz="2800" dirty="0"/>
              <a:t> significant to me because it </a:t>
            </a:r>
            <a:r>
              <a:rPr lang="en-CA" sz="2800" dirty="0">
                <a:solidFill>
                  <a:srgbClr val="FF0000"/>
                </a:solidFill>
              </a:rPr>
              <a:t>represents</a:t>
            </a:r>
            <a:r>
              <a:rPr lang="en-CA" sz="2800" dirty="0"/>
              <a:t> the amazing abilities of beavers to change the environment.  This </a:t>
            </a:r>
            <a:r>
              <a:rPr lang="en-CA" sz="2800" dirty="0">
                <a:solidFill>
                  <a:srgbClr val="FF0000"/>
                </a:solidFill>
              </a:rPr>
              <a:t>is</a:t>
            </a:r>
            <a:r>
              <a:rPr lang="en-CA" sz="2800" dirty="0"/>
              <a:t> a fresh cut from animals that </a:t>
            </a:r>
            <a:r>
              <a:rPr lang="en-CA" sz="2800" dirty="0">
                <a:solidFill>
                  <a:srgbClr val="FF0000"/>
                </a:solidFill>
              </a:rPr>
              <a:t>work</a:t>
            </a:r>
            <a:r>
              <a:rPr lang="en-CA" sz="2800" dirty="0"/>
              <a:t> all the time.  This family of beavers created a new pond, where they now </a:t>
            </a:r>
            <a:r>
              <a:rPr lang="en-CA" sz="2800" dirty="0">
                <a:solidFill>
                  <a:srgbClr val="FF0000"/>
                </a:solidFill>
              </a:rPr>
              <a:t>live</a:t>
            </a:r>
            <a:r>
              <a:rPr lang="en-CA" sz="2800" dirty="0"/>
              <a:t>.  </a:t>
            </a:r>
          </a:p>
          <a:p>
            <a:r>
              <a:rPr lang="en-CA" sz="2800" dirty="0"/>
              <a:t>The photo </a:t>
            </a:r>
            <a:r>
              <a:rPr lang="en-CA" sz="2800" dirty="0">
                <a:solidFill>
                  <a:srgbClr val="FF0000"/>
                </a:solidFill>
              </a:rPr>
              <a:t>has</a:t>
            </a:r>
            <a:r>
              <a:rPr lang="en-CA" sz="2800" dirty="0"/>
              <a:t> soft textures and </a:t>
            </a:r>
            <a:r>
              <a:rPr lang="en-CA" sz="2800" dirty="0">
                <a:solidFill>
                  <a:srgbClr val="FF0000"/>
                </a:solidFill>
              </a:rPr>
              <a:t>includes</a:t>
            </a:r>
            <a:r>
              <a:rPr lang="en-CA" sz="2800" dirty="0"/>
              <a:t> the colours of nature, from blue, to brown, to green.</a:t>
            </a:r>
          </a:p>
        </p:txBody>
      </p:sp>
    </p:spTree>
    <p:extLst>
      <p:ext uri="{BB962C8B-B14F-4D97-AF65-F5344CB8AC3E}">
        <p14:creationId xmlns:p14="http://schemas.microsoft.com/office/powerpoint/2010/main" val="2848814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1E92DD-DDB4-2045-8BCA-EB9496E62748}"/>
              </a:ext>
            </a:extLst>
          </p:cNvPr>
          <p:cNvSpPr/>
          <p:nvPr/>
        </p:nvSpPr>
        <p:spPr>
          <a:xfrm>
            <a:off x="784413" y="2259106"/>
            <a:ext cx="3411070" cy="4491320"/>
          </a:xfrm>
          <a:prstGeom prst="rect">
            <a:avLst/>
          </a:prstGeom>
          <a:solidFill>
            <a:schemeClr val="bg1">
              <a:lumMod val="75000"/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83C40-7FBB-A541-9411-DD86EA09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New for this week: 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C633D-2BD1-0242-A4C9-CD657ED07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Here is my homework: 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57B9F-8A22-8D46-83F3-F04769CD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90" y="2609474"/>
            <a:ext cx="2870947" cy="38279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FF1588-7A49-7C4E-863F-33AC696B5352}"/>
              </a:ext>
            </a:extLst>
          </p:cNvPr>
          <p:cNvSpPr txBox="1"/>
          <p:nvPr/>
        </p:nvSpPr>
        <p:spPr>
          <a:xfrm>
            <a:off x="5074024" y="2259106"/>
            <a:ext cx="6131858" cy="3970318"/>
          </a:xfrm>
          <a:prstGeom prst="rect">
            <a:avLst/>
          </a:prstGeom>
          <a:solidFill>
            <a:schemeClr val="bg1">
              <a:lumMod val="75000"/>
              <a:alpha val="69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2800" dirty="0"/>
              <a:t>In order to take this photo, I convinced my friends to take a walk near my cottage.  We hiked to the end of the road and crossed a bridge.  We followed the path for about 20 minutes before seeing the beaver pond.  I climbed over a stack of logs to get close to the beaver-chewed stump.  The walk is a long loop that took about an hour an a half altogether.  </a:t>
            </a:r>
          </a:p>
        </p:txBody>
      </p:sp>
    </p:spTree>
    <p:extLst>
      <p:ext uri="{BB962C8B-B14F-4D97-AF65-F5344CB8AC3E}">
        <p14:creationId xmlns:p14="http://schemas.microsoft.com/office/powerpoint/2010/main" val="2656865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1E92DD-DDB4-2045-8BCA-EB9496E62748}"/>
              </a:ext>
            </a:extLst>
          </p:cNvPr>
          <p:cNvSpPr/>
          <p:nvPr/>
        </p:nvSpPr>
        <p:spPr>
          <a:xfrm>
            <a:off x="784413" y="2259106"/>
            <a:ext cx="3411070" cy="4491320"/>
          </a:xfrm>
          <a:prstGeom prst="rect">
            <a:avLst/>
          </a:prstGeom>
          <a:solidFill>
            <a:schemeClr val="bg1">
              <a:lumMod val="75000"/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83C40-7FBB-A541-9411-DD86EA09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New for this week: 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C633D-2BD1-0242-A4C9-CD657ED07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Here is my homework: 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57B9F-8A22-8D46-83F3-F04769CD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90" y="2609474"/>
            <a:ext cx="2870947" cy="38279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FF1588-7A49-7C4E-863F-33AC696B5352}"/>
              </a:ext>
            </a:extLst>
          </p:cNvPr>
          <p:cNvSpPr txBox="1"/>
          <p:nvPr/>
        </p:nvSpPr>
        <p:spPr>
          <a:xfrm>
            <a:off x="5074024" y="2259106"/>
            <a:ext cx="6131858" cy="3970318"/>
          </a:xfrm>
          <a:prstGeom prst="rect">
            <a:avLst/>
          </a:prstGeom>
          <a:solidFill>
            <a:schemeClr val="bg1">
              <a:lumMod val="75000"/>
              <a:alpha val="69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2800" dirty="0"/>
              <a:t>In order to take this photo, I </a:t>
            </a:r>
            <a:r>
              <a:rPr lang="en-CA" sz="2800" dirty="0">
                <a:solidFill>
                  <a:srgbClr val="FF0000"/>
                </a:solidFill>
              </a:rPr>
              <a:t>convinced </a:t>
            </a:r>
            <a:r>
              <a:rPr lang="en-CA" sz="2800" dirty="0"/>
              <a:t>my friends to take a walk near my cottage.  We </a:t>
            </a:r>
            <a:r>
              <a:rPr lang="en-CA" sz="2800" dirty="0">
                <a:solidFill>
                  <a:srgbClr val="FF0000"/>
                </a:solidFill>
              </a:rPr>
              <a:t>hiked</a:t>
            </a:r>
            <a:r>
              <a:rPr lang="en-CA" sz="2800" dirty="0"/>
              <a:t> to the end of the road and </a:t>
            </a:r>
            <a:r>
              <a:rPr lang="en-CA" sz="2800" dirty="0">
                <a:solidFill>
                  <a:srgbClr val="FF0000"/>
                </a:solidFill>
              </a:rPr>
              <a:t>crossed</a:t>
            </a:r>
            <a:r>
              <a:rPr lang="en-CA" sz="2800" dirty="0"/>
              <a:t> a bridge.  We </a:t>
            </a:r>
            <a:r>
              <a:rPr lang="en-CA" sz="2800" dirty="0">
                <a:solidFill>
                  <a:srgbClr val="FF0000"/>
                </a:solidFill>
              </a:rPr>
              <a:t>followed</a:t>
            </a:r>
            <a:r>
              <a:rPr lang="en-CA" sz="2800" dirty="0"/>
              <a:t> the path for about 20 minutes before seeing the beaver pond.  I </a:t>
            </a:r>
            <a:r>
              <a:rPr lang="en-CA" sz="2800" dirty="0">
                <a:solidFill>
                  <a:srgbClr val="FF0000"/>
                </a:solidFill>
              </a:rPr>
              <a:t>climbed</a:t>
            </a:r>
            <a:r>
              <a:rPr lang="en-CA" sz="2800" dirty="0"/>
              <a:t> over a stack of logs to get close to the beaver-chewed stump.  The walk is a long loop that </a:t>
            </a:r>
            <a:r>
              <a:rPr lang="en-CA" sz="2800" dirty="0">
                <a:solidFill>
                  <a:srgbClr val="FF0000"/>
                </a:solidFill>
              </a:rPr>
              <a:t>took</a:t>
            </a:r>
            <a:r>
              <a:rPr lang="en-CA" sz="2800" dirty="0"/>
              <a:t> about an hour an a half altogether.  </a:t>
            </a:r>
          </a:p>
        </p:txBody>
      </p:sp>
    </p:spTree>
    <p:extLst>
      <p:ext uri="{BB962C8B-B14F-4D97-AF65-F5344CB8AC3E}">
        <p14:creationId xmlns:p14="http://schemas.microsoft.com/office/powerpoint/2010/main" val="343606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4C07-EA4F-9A41-90D8-35D4C8A3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Simple present and simple past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6DE398-304E-A540-904E-1E022D2EAE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323783"/>
              </p:ext>
            </p:extLst>
          </p:nvPr>
        </p:nvGraphicFramePr>
        <p:xfrm>
          <a:off x="838200" y="1825624"/>
          <a:ext cx="10515600" cy="45416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146953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11393106"/>
                    </a:ext>
                  </a:extLst>
                </a:gridCol>
              </a:tblGrid>
              <a:tr h="645811">
                <a:tc>
                  <a:txBody>
                    <a:bodyPr/>
                    <a:lstStyle/>
                    <a:p>
                      <a:r>
                        <a:rPr lang="en-CA" dirty="0"/>
                        <a:t>Simple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Simple past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793688"/>
                  </a:ext>
                </a:extLst>
              </a:tr>
              <a:tr h="1114688">
                <a:tc>
                  <a:txBody>
                    <a:bodyPr/>
                    <a:lstStyle/>
                    <a:p>
                      <a:r>
                        <a:rPr lang="en-CA" sz="2400" dirty="0"/>
                        <a:t>Habits, routines, descriptions, something that is always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dirty="0"/>
                        <a:t>An action or a series of actions that started and ended at a time in the past.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657250"/>
                  </a:ext>
                </a:extLst>
              </a:tr>
              <a:tr h="1114688">
                <a:tc>
                  <a:txBody>
                    <a:bodyPr/>
                    <a:lstStyle/>
                    <a:p>
                      <a:r>
                        <a:rPr lang="en-CA" sz="2400" dirty="0"/>
                        <a:t>Same as infinitive except 3</a:t>
                      </a:r>
                      <a:r>
                        <a:rPr lang="en-CA" sz="2400" baseline="30000" dirty="0"/>
                        <a:t>rd</a:t>
                      </a:r>
                      <a:r>
                        <a:rPr lang="en-CA" sz="2400" dirty="0"/>
                        <a:t> person singular requires “s” or “</a:t>
                      </a:r>
                      <a:r>
                        <a:rPr lang="en-CA" sz="2400" dirty="0" err="1"/>
                        <a:t>es</a:t>
                      </a:r>
                      <a:r>
                        <a:rPr lang="en-CA" sz="2400" dirty="0"/>
                        <a:t>”.  Be and have are exceptions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dirty="0"/>
                        <a:t>Formed by adding “d” or “</a:t>
                      </a:r>
                      <a:r>
                        <a:rPr lang="en-CA" sz="2400" dirty="0" err="1"/>
                        <a:t>ed</a:t>
                      </a:r>
                      <a:r>
                        <a:rPr lang="en-CA" sz="2400" dirty="0"/>
                        <a:t>” to verb for a regular verb.  Irregular forms should be memorized.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417471"/>
                  </a:ext>
                </a:extLst>
              </a:tr>
              <a:tr h="1592412">
                <a:tc>
                  <a:txBody>
                    <a:bodyPr/>
                    <a:lstStyle/>
                    <a:p>
                      <a:r>
                        <a:rPr lang="en-CA" sz="2400" dirty="0"/>
                        <a:t>Refer to </a:t>
                      </a:r>
                      <a:r>
                        <a:rPr lang="en-CA" sz="2400" dirty="0">
                          <a:hlinkClick r:id="rId2"/>
                        </a:rPr>
                        <a:t>this website </a:t>
                      </a:r>
                      <a:r>
                        <a:rPr lang="en-CA" sz="2400" dirty="0"/>
                        <a:t>if you’re unsure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dirty="0"/>
                        <a:t>Refer to </a:t>
                      </a:r>
                      <a:r>
                        <a:rPr lang="en-CA" sz="2400" dirty="0">
                          <a:hlinkClick r:id="rId3"/>
                        </a:rPr>
                        <a:t>this website </a:t>
                      </a:r>
                      <a:r>
                        <a:rPr lang="en-CA" sz="2400" dirty="0"/>
                        <a:t>if you’re unsure.</a:t>
                      </a:r>
                    </a:p>
                    <a:p>
                      <a:r>
                        <a:rPr lang="en-CA" sz="2400" dirty="0"/>
                        <a:t>Here is a list of </a:t>
                      </a:r>
                      <a:r>
                        <a:rPr lang="en-CA" sz="2400" dirty="0">
                          <a:hlinkClick r:id="rId4"/>
                        </a:rPr>
                        <a:t>irregular verbs </a:t>
                      </a:r>
                      <a:r>
                        <a:rPr lang="en-CA" sz="2400" dirty="0"/>
                        <a:t>and their past tense forms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60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98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DBBDF-320E-2948-A8D9-1F35E5083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Your homework from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0CD23-EE77-BD46-AD93-7E5DDF8D7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Please take 10 minutes now to revise the text you used with your photos.  Did you use simple present and simple past correctly?</a:t>
            </a:r>
          </a:p>
          <a:p>
            <a:endParaRPr lang="en-CA" dirty="0"/>
          </a:p>
          <a:p>
            <a:r>
              <a:rPr lang="en-CA" dirty="0"/>
              <a:t>At the time indicated by your teacher, go to your groups, share your photos and texts. </a:t>
            </a:r>
          </a:p>
        </p:txBody>
      </p:sp>
    </p:spTree>
    <p:extLst>
      <p:ext uri="{BB962C8B-B14F-4D97-AF65-F5344CB8AC3E}">
        <p14:creationId xmlns:p14="http://schemas.microsoft.com/office/powerpoint/2010/main" val="2534405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5D370-F038-3B45-8997-201C497AC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Listening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A9075-C2F0-2C47-A58C-A6306133054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50000"/>
              <a:alpha val="56000"/>
            </a:schemeClr>
          </a:solidFill>
        </p:spPr>
        <p:txBody>
          <a:bodyPr/>
          <a:lstStyle/>
          <a:p>
            <a:r>
              <a:rPr lang="en-CA" dirty="0"/>
              <a:t>Start by trying the vocabulary quiz “Get Hooked </a:t>
            </a:r>
            <a:r>
              <a:rPr lang="en-CA"/>
              <a:t>on Nature” </a:t>
            </a:r>
            <a:r>
              <a:rPr lang="en-CA" dirty="0"/>
              <a:t>under “assignments”</a:t>
            </a:r>
          </a:p>
          <a:p>
            <a:r>
              <a:rPr lang="en-CA" dirty="0"/>
              <a:t>Note that the vocabulary in the list follows the order in the video</a:t>
            </a:r>
          </a:p>
          <a:p>
            <a:endParaRPr lang="en-CA" dirty="0"/>
          </a:p>
          <a:p>
            <a:r>
              <a:rPr lang="en-CA" dirty="0"/>
              <a:t>When you have finished with vocabulary, open the comprehension question document in ”files” and review the questions.</a:t>
            </a:r>
          </a:p>
          <a:p>
            <a:endParaRPr lang="en-CA" dirty="0"/>
          </a:p>
          <a:p>
            <a:r>
              <a:rPr lang="en-CA" dirty="0"/>
              <a:t>Watch the video and answer the questions</a:t>
            </a:r>
          </a:p>
        </p:txBody>
      </p:sp>
    </p:spTree>
    <p:extLst>
      <p:ext uri="{BB962C8B-B14F-4D97-AF65-F5344CB8AC3E}">
        <p14:creationId xmlns:p14="http://schemas.microsoft.com/office/powerpoint/2010/main" val="1665970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0F1DD-C217-D748-B225-BE9CDDCA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Listening exercise – checking your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055D5-39B9-3E48-BBF4-81661A74F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Meet in your groups to compare answers</a:t>
            </a:r>
          </a:p>
          <a:p>
            <a:r>
              <a:rPr lang="en-CA" dirty="0"/>
              <a:t>Ask the teacher for help if there are disagreements about the right answer</a:t>
            </a:r>
          </a:p>
        </p:txBody>
      </p:sp>
    </p:spTree>
    <p:extLst>
      <p:ext uri="{BB962C8B-B14F-4D97-AF65-F5344CB8AC3E}">
        <p14:creationId xmlns:p14="http://schemas.microsoft.com/office/powerpoint/2010/main" val="3729077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E911-FA99-8D4C-BF06-F1AE51C3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A0741-2179-4A4F-BBCE-16CA9ED35AA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50000"/>
              <a:alpha val="58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CA" dirty="0"/>
              <a:t>Scenario: </a:t>
            </a:r>
          </a:p>
          <a:p>
            <a:pPr marL="0" indent="0">
              <a:buNone/>
            </a:pPr>
            <a:r>
              <a:rPr lang="en-CA" dirty="0"/>
              <a:t>The students in your programme are a little down and you think the solution might be to spend more time in nature.  </a:t>
            </a:r>
          </a:p>
          <a:p>
            <a:pPr marL="0" indent="0">
              <a:buNone/>
            </a:pPr>
            <a:r>
              <a:rPr lang="en-CA" dirty="0"/>
              <a:t>Read </a:t>
            </a:r>
            <a:r>
              <a:rPr lang="en-CA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text </a:t>
            </a:r>
            <a:r>
              <a:rPr lang="en-CA" dirty="0"/>
              <a:t>and prepare a short talk (maximum 2 minutes) for your classmates to convince them to go outside.  Use information from the text, but say it in your own words.  Don’t copy from the text.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Next week: reading exam  </a:t>
            </a:r>
          </a:p>
        </p:txBody>
      </p:sp>
    </p:spTree>
    <p:extLst>
      <p:ext uri="{BB962C8B-B14F-4D97-AF65-F5344CB8AC3E}">
        <p14:creationId xmlns:p14="http://schemas.microsoft.com/office/powerpoint/2010/main" val="2248205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D6F6CAAF9C6944B5C9751CA7007C9D" ma:contentTypeVersion="8" ma:contentTypeDescription="Create a new document." ma:contentTypeScope="" ma:versionID="d68e3ab74090c6aa942bec0d3e1f8360">
  <xsd:schema xmlns:xsd="http://www.w3.org/2001/XMLSchema" xmlns:xs="http://www.w3.org/2001/XMLSchema" xmlns:p="http://schemas.microsoft.com/office/2006/metadata/properties" xmlns:ns2="46578e2c-41c0-4923-89c6-761e39a1a296" targetNamespace="http://schemas.microsoft.com/office/2006/metadata/properties" ma:root="true" ma:fieldsID="df37f3c599b4daeb0d87abd6d51780c0" ns2:_="">
    <xsd:import namespace="46578e2c-41c0-4923-89c6-761e39a1a2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578e2c-41c0-4923-89c6-761e39a1a2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A96E4E-BAE7-48DA-BDCF-5F11C1065AA5}"/>
</file>

<file path=customXml/itemProps2.xml><?xml version="1.0" encoding="utf-8"?>
<ds:datastoreItem xmlns:ds="http://schemas.openxmlformats.org/officeDocument/2006/customXml" ds:itemID="{175628E1-30C6-4E32-B351-4212F05F8A49}"/>
</file>

<file path=customXml/itemProps3.xml><?xml version="1.0" encoding="utf-8"?>
<ds:datastoreItem xmlns:ds="http://schemas.openxmlformats.org/officeDocument/2006/customXml" ds:itemID="{9DEC90FF-1F39-4DB7-B70E-C8EC448B379F}"/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761</Words>
  <Application>Microsoft Macintosh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English 101  Week 3</vt:lpstr>
      <vt:lpstr>To finish off from last week</vt:lpstr>
      <vt:lpstr>To finish off from last week</vt:lpstr>
      <vt:lpstr>New for this week: Nature</vt:lpstr>
      <vt:lpstr>New for this week: Nature</vt:lpstr>
      <vt:lpstr>New for this week: Nature</vt:lpstr>
      <vt:lpstr>New for this week: Nature</vt:lpstr>
      <vt:lpstr>Simple present and simple past</vt:lpstr>
      <vt:lpstr>Your homework from last week</vt:lpstr>
      <vt:lpstr>Listening exercise</vt:lpstr>
      <vt:lpstr>Listening exercise – checking your answers</vt:lpstr>
      <vt:lpstr>Homework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101  Week 3</dc:title>
  <dc:creator>Daniel Stewart</dc:creator>
  <cp:lastModifiedBy>Daniel Stewart</cp:lastModifiedBy>
  <cp:revision>12</cp:revision>
  <dcterms:created xsi:type="dcterms:W3CDTF">2020-09-15T19:58:39Z</dcterms:created>
  <dcterms:modified xsi:type="dcterms:W3CDTF">2020-09-17T18:27:03Z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0x01010016D6F6CAAF9C6944B5C9751CA7007C9D</vt:lpwstr>
  </property>
</Properties>
</file>